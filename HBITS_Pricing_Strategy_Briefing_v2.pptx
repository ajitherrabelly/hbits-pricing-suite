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HBITS Pricing Strategy</a:t>
            </a:r>
          </a:p>
          <a:p>
            <a:pPr>
              <a:defRPr sz="2400">
                <a:solidFill>
                  <a:srgbClr val="9FC7E8"/>
                </a:solidFill>
              </a:defRPr>
            </a:pPr>
            <a:r>
              <a:t>Briefing for IDIQ Pricing Quality Review</a:t>
            </a:r>
          </a:p>
          <a:p>
            <a:pPr>
              <a:defRPr sz="1300">
                <a:solidFill>
                  <a:srgbClr val="C8D2E6"/>
                </a:solidFill>
              </a:defRPr>
            </a:pPr>
            <a:r>
              <a:t>Briefing for State IDIQ Pricing Quality Review  -  NYS OGS Group 73012 / Award 23158 / Solicitation 23311</a:t>
            </a:r>
          </a:p>
          <a:p>
            <a:pPr>
              <a:defRPr sz="1100">
                <a:solidFill>
                  <a:srgbClr val="96A5C3"/>
                </a:solidFill>
              </a:defRPr>
            </a:pPr>
            <a:r>
              <a:t>Bid opening 7/1/2026  -  5-year term + 2-year option  -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Centralized, non-negotiated, FIXED bill-rate IT staffing contract (HBITS).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NTE bill rates: 31 titles x 4 skills x 3 regions, firm for each placement's life.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Version 1 (Baseline): internal cost/CPI estimate - lands in the expensive third.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Version 1.1 (Rank Positioning): current formula - prices each role to rank #19 of 33 (mid-field).</a:t>
            </a:r>
          </a:p>
          <a:p>
            <a:pPr>
              <a:spcAft>
                <a:spcPts val="600"/>
              </a:spcAft>
              <a:defRPr sz="1600" b="1">
                <a:solidFill>
                  <a:srgbClr val="1F5A8A"/>
                </a:solidFill>
              </a:defRPr>
            </a:pPr>
            <a:r>
              <a:t>•  This deck is built to be challenged - see the Quality-Test Checklist.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7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Market at a Glance (2023-2025)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82D37"/>
                </a:solidFill>
              </a:defRPr>
            </a:pPr>
            <a:r>
              <a:t>•  1,664 placements won across the market - worth $1.58B.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31 active competing vendors; average contract $948K.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Market leader: Knowledge Builders (KBI) - 317 placements / $160.5M.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Biggest buyer: Office of Information Technology Services (435 placements).</a:t>
            </a:r>
          </a:p>
          <a:p>
            <a:pPr>
              <a:spcAft>
                <a:spcPts val="600"/>
              </a:spcAft>
              <a:defRPr sz="1600" b="1">
                <a:solidFill>
                  <a:srgbClr val="167045"/>
                </a:solidFill>
              </a:defRPr>
            </a:pPr>
            <a:r>
              <a:t>•  Growing market: $514.6M (2023) to $813.9M (2025).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7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Market activity by year</a:t>
            </a:r>
          </a:p>
        </p:txBody>
      </p:sp>
      <p:pic>
        <p:nvPicPr>
          <p:cNvPr id="3" name="Picture 2" descr="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1325880"/>
            <a:ext cx="7498079" cy="41091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89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3C4655"/>
                </a:solidFill>
              </a:defRPr>
            </a:pPr>
            <a:r>
              <a:t>Award dollars are rising - bigger, higher-value engagements each year.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7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Market leaders - placements won</a:t>
            </a:r>
          </a:p>
        </p:txBody>
      </p:sp>
      <p:pic>
        <p:nvPicPr>
          <p:cNvPr id="3" name="Picture 2" descr="vend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1325880"/>
            <a:ext cx="7498079" cy="44348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89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3C4655"/>
                </a:solidFill>
              </a:defRPr>
            </a:pPr>
            <a:r>
              <a:t>Knowledge Builders (KBI) dominates (~19% of all placements).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7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Market share</a:t>
            </a:r>
          </a:p>
        </p:txBody>
      </p:sp>
      <p:pic>
        <p:nvPicPr>
          <p:cNvPr id="3" name="Picture 2" descr="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1325880"/>
            <a:ext cx="7498079" cy="52160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89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3C4655"/>
                </a:solidFill>
              </a:defRPr>
            </a:pPr>
            <a:r>
              <a:t>Just 7 vendors hold ~62% of placements - a concentrated field to break into.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7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Who is gaining and who is fading</a:t>
            </a:r>
          </a:p>
        </p:txBody>
      </p:sp>
      <p:pic>
        <p:nvPicPr>
          <p:cNvPr id="3" name="Picture 2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1325880"/>
            <a:ext cx="7498079" cy="4226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89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3C4655"/>
                </a:solidFill>
              </a:defRPr>
            </a:pPr>
            <a:r>
              <a:t>The leader is accelerating while some incumbents slide - that opens share for a sharp new bidder.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7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Who is buying</a:t>
            </a:r>
          </a:p>
        </p:txBody>
      </p:sp>
      <p:pic>
        <p:nvPicPr>
          <p:cNvPr id="3" name="Picture 2" descr="agen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1325880"/>
            <a:ext cx="7498079" cy="42690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89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3C4655"/>
                </a:solidFill>
              </a:defRPr>
            </a:pPr>
            <a:r>
              <a:t>Office of Information Technology Services is by far the biggest buyer - focus capture efforts there first.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67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Hottest roles</a:t>
            </a:r>
          </a:p>
        </p:txBody>
      </p:sp>
      <p:pic>
        <p:nvPicPr>
          <p:cNvPr id="3" name="Picture 2" descr="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1325880"/>
            <a:ext cx="7498079" cy="42725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89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3C4655"/>
                </a:solidFill>
              </a:defRPr>
            </a:pPr>
            <a:r>
              <a:t>Demand clusters in Expert and Senior roles - where the volume and the margin are.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Procurement Context - Three Regions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11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Coverage</a:t>
                      </a:r>
                    </a:p>
                  </a:txBody>
                  <a:tcPr>
                    <a:solidFill>
                      <a:srgbClr val="11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Character</a:t>
                      </a:r>
                    </a:p>
                  </a:txBody>
                  <a:tcPr>
                    <a:solidFill>
                      <a:srgbClr val="11203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NY counties outside R2/R3 (Albany)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Statewide baseline; most work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Dutchess, Orange, Putnam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Mid-Hudson, mid-market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NYC metro + 5 boroughs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Highest labor cost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The MSP Price Filter - the critical mechanic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82D37"/>
                </a:solidFill>
              </a:defRPr>
            </a:pPr>
            <a:r>
              <a:t>•  Applied BEFORE any technical evaluation, on price alone: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10-40 candidates: only the lowest 50% of bill rates forwarded (+1% buffer).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6-10 candidates: only the 5 lowest forwarded.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5 or fewer: filter bypassed - all forwarded.</a:t>
            </a:r>
          </a:p>
          <a:p>
            <a:pPr>
              <a:spcAft>
                <a:spcPts val="600"/>
              </a:spcAft>
              <a:defRPr sz="1600" b="1">
                <a:solidFill>
                  <a:srgbClr val="C4413A"/>
                </a:solidFill>
              </a:defRPr>
            </a:pPr>
            <a:r>
              <a:t>•  Implication: a rank #19 of 33 rate sits in the UPPER half - filtered out on high-volume roles.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The Strategic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Bid too high (big markup): protect margin, but get filtered out of high-volume orders.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Bid too low (small markup): pass the filter &amp; win volume, but compress margin.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Fixed bill rate =&gt; low-markup vendors can pay a HIGHER wage for the same bill rate.</a:t>
            </a:r>
          </a:p>
          <a:p>
            <a:pPr lvl="1">
              <a:spcAft>
                <a:spcPts val="600"/>
              </a:spcAft>
              <a:defRPr sz="1400" b="0">
                <a:solidFill>
                  <a:srgbClr val="282D37"/>
                </a:solidFill>
              </a:defRPr>
            </a:pPr>
            <a:r>
              <a:t>–  e.g. BA Junior bill $40.33: 11% markup pays ~$36.33 vs 47% markup pays ~$27.43.</a:t>
            </a:r>
          </a:p>
          <a:p>
            <a:pPr>
              <a:spcAft>
                <a:spcPts val="600"/>
              </a:spcAft>
              <a:defRPr sz="1600" b="1">
                <a:solidFill>
                  <a:srgbClr val="167045"/>
                </a:solidFill>
              </a:defRPr>
            </a:pPr>
            <a:r>
              <a:t>•  Better wages -&gt; better talent -&gt; higher agency satisfaction scores.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Core Formula &amp; CPI Escalation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1203A"/>
                </a:solidFill>
              </a:defRPr>
            </a:pPr>
            <a:r>
              <a:t>•  HBR_NTE = HWR x (1 + Markup/100)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Markup must cover payroll, insurance, overhead &amp; G&amp;A, OGS fee, and net profit.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CPI escalation (Sec 6.5): Adj% = (CPI_t - CPI_t-12) / CPI_t-12 x 100</a:t>
            </a:r>
          </a:p>
          <a:p>
            <a:pPr lvl="1">
              <a:spcAft>
                <a:spcPts val="600"/>
              </a:spcAft>
              <a:defRPr sz="1400" b="0">
                <a:solidFill>
                  <a:srgbClr val="282D37"/>
                </a:solidFill>
              </a:defRPr>
            </a:pPr>
            <a:r>
              <a:t>–  Bid-year multiplier (Apr2026/Apr2025): 1.0381 (+3.81%).</a:t>
            </a:r>
          </a:p>
          <a:p>
            <a:pPr lvl="1">
              <a:spcAft>
                <a:spcPts val="600"/>
              </a:spcAft>
              <a:defRPr sz="1400" b="0">
                <a:solidFill>
                  <a:srgbClr val="282D37"/>
                </a:solidFill>
              </a:defRPr>
            </a:pPr>
            <a:r>
              <a:t>–  2026-&gt;2029 projection: 1.0716 (+7.16%).</a:t>
            </a:r>
          </a:p>
          <a:p>
            <a:pPr>
              <a:spcAft>
                <a:spcPts val="600"/>
              </a:spcAft>
              <a:defRPr sz="1600" b="1">
                <a:solidFill>
                  <a:srgbClr val="B3771A"/>
                </a:solidFill>
              </a:defRPr>
            </a:pPr>
            <a:r>
              <a:t>•  NOT automatic - must be filed with BLS sheets in a 90-day window or forfeited.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Version 1 -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Internal Bid Year 2026 estimate (labor benchmarks x CPI multipliers).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Covers 30 of 31 titles (omits Business Analyst).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Region 1 values applied across all regions.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Position: expensive third (Programmer/R1/Senior = #26 of 33).</a:t>
            </a:r>
          </a:p>
          <a:p>
            <a:pPr>
              <a:spcAft>
                <a:spcPts val="600"/>
              </a:spcAft>
              <a:defRPr sz="1600" b="1">
                <a:solidFill>
                  <a:srgbClr val="C4413A"/>
                </a:solidFill>
              </a:defRPr>
            </a:pPr>
            <a:r>
              <a:t>•  Cost-up baseline ignores where competitors sit -&gt; prices above the filter cutoff.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Version 1.1 - Rank Positioning (current)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Market-relative: price each role to a target rank (default #19 of 33).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Sort competitors asc; set B* between the 18th and 19th cheapest =&gt; 18 below, 14 above.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356/372 roles hit exactly #19; 16/372 fall to #18 due to competitor ties.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Per-region; covers all 31 titles; reproducible from public data.</a:t>
            </a:r>
          </a:p>
          <a:p>
            <a:pPr>
              <a:spcAft>
                <a:spcPts val="600"/>
              </a:spcAft>
              <a:defRPr sz="1600" b="1">
                <a:solidFill>
                  <a:srgbClr val="167045"/>
                </a:solidFill>
              </a:defRPr>
            </a:pPr>
            <a:r>
              <a:t>•  Target rank is one tunable knob - re-rank live in the Bid Builder.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Data Foundation - Snapshot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2251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1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1203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Competitors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Bidders per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Role combinations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372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Competitor markups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11% - 110%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Roles at exactly #19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356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Roles at nearest (ties)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Margin &amp; Cost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Net margin% = [(bill-wage) - wage x (payroll+ins+oh) - bill x OGSfee] / bill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Defaults: payroll 13.5%, insurance 3.5%, overhead+G&amp;A 10.5% (of wage); OGS fee 0.75%.</a:t>
            </a:r>
          </a:p>
          <a:p>
            <a:pPr lvl="1">
              <a:spcAft>
                <a:spcPts val="600"/>
              </a:spcAft>
              <a:defRPr sz="1400" b="0">
                <a:solidFill>
                  <a:srgbClr val="282D37"/>
                </a:solidFill>
              </a:defRPr>
            </a:pPr>
            <a:r>
              <a:t>–  30% markup -&gt; ~1-2% net margin.</a:t>
            </a:r>
          </a:p>
          <a:p>
            <a:pPr lvl="1">
              <a:spcAft>
                <a:spcPts val="600"/>
              </a:spcAft>
              <a:defRPr sz="1400" b="0">
                <a:solidFill>
                  <a:srgbClr val="282D37"/>
                </a:solidFill>
              </a:defRPr>
            </a:pPr>
            <a:r>
              <a:t>–  45% markup -&gt; ~11% net margin.</a:t>
            </a:r>
          </a:p>
          <a:p>
            <a:pPr>
              <a:spcAft>
                <a:spcPts val="600"/>
              </a:spcAft>
              <a:defRPr sz="1600" b="1">
                <a:solidFill>
                  <a:srgbClr val="B3771A"/>
                </a:solidFill>
              </a:defRPr>
            </a:pPr>
            <a:r>
              <a:t>•  Margin is driven by MARKUP, not the role. Rank-#19 needs ~40-45% markup for ~10% margin.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Competitive Landscape - Archetypes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Archetype</a:t>
                      </a:r>
                    </a:p>
                  </a:txBody>
                  <a:tcPr>
                    <a:solidFill>
                      <a:srgbClr val="11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Markup</a:t>
                      </a:r>
                    </a:p>
                  </a:txBody>
                  <a:tcPr>
                    <a:solidFill>
                      <a:srgbClr val="11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Examples</a:t>
                      </a:r>
                    </a:p>
                  </a:txBody>
                  <a:tcPr>
                    <a:solidFill>
                      <a:srgbClr val="11203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High-volume / low-margin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11-33%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CTS, GCOM, Broad Crossing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Mid-market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38-52%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Mindlance, Sligo, Experis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Aggregator / niche-high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65-110%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Spruce, CMA/OST, KBI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Quality-Test Checklist - Critical &amp; Material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4413A"/>
                </a:solidFill>
              </a:defRPr>
            </a:pPr>
            <a:r>
              <a:t>•  A. Does rank #19 survive the 50% MSP filter? (upper half = filtered)</a:t>
            </a:r>
          </a:p>
          <a:p>
            <a:pPr>
              <a:spcAft>
                <a:spcPts val="600"/>
              </a:spcAft>
              <a:defRPr sz="1600" b="1">
                <a:solidFill>
                  <a:srgbClr val="C4413A"/>
                </a:solidFill>
              </a:defRPr>
            </a:pPr>
            <a:r>
              <a:t>•  B. Are competitor benchmarks current, or stale/un-escalated pre-2025 rates?</a:t>
            </a:r>
          </a:p>
          <a:p>
            <a:pPr>
              <a:spcAft>
                <a:spcPts val="600"/>
              </a:spcAft>
              <a:defRPr sz="1600" b="1">
                <a:solidFill>
                  <a:srgbClr val="B3771A"/>
                </a:solidFill>
              </a:defRPr>
            </a:pPr>
            <a:r>
              <a:t>•  C. Flat rank vs tiered strategy by role scarcity?</a:t>
            </a:r>
          </a:p>
          <a:p>
            <a:pPr>
              <a:spcAft>
                <a:spcPts val="600"/>
              </a:spcAft>
              <a:defRPr sz="1600" b="1">
                <a:solidFill>
                  <a:srgbClr val="B3771A"/>
                </a:solidFill>
              </a:defRPr>
            </a:pPr>
            <a:r>
              <a:t>•  D. Margin vs recruiting trade-off (markup sets payable wage)?</a:t>
            </a:r>
          </a:p>
          <a:p>
            <a:pPr>
              <a:spcAft>
                <a:spcPts val="600"/>
              </a:spcAft>
              <a:defRPr sz="1600" b="1">
                <a:solidFill>
                  <a:srgbClr val="B3771A"/>
                </a:solidFill>
              </a:defRPr>
            </a:pPr>
            <a:r>
              <a:t>•  E. Replace assumed wage / cost loadings with audited rates?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Quality-Test Checklist -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F. Model 10-year profitability decay (CPI escalation trails IT wage inflation).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G. 16/372 roles land at #18 (ties) - acceptable?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H. Is the 32-vendor pool complete?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I. Confirm regional competitor sets are distinct.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J. Workflow to file CPI escalation within the window each anniversary.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Risks, Assumptions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Assumes competitors re-bid near current rates; MSP mechanics unchanged.</a:t>
            </a:r>
          </a:p>
          <a:p>
            <a:pPr>
              <a:spcAft>
                <a:spcPts val="600"/>
              </a:spcAft>
              <a:defRPr sz="1600" b="0">
                <a:solidFill>
                  <a:srgbClr val="282D37"/>
                </a:solidFill>
              </a:defRPr>
            </a:pPr>
            <a:r>
              <a:t>•  Wage/margin figures illustrative pending audited cost data.</a:t>
            </a:r>
          </a:p>
          <a:p>
            <a:pPr>
              <a:spcAft>
                <a:spcPts val="600"/>
              </a:spcAft>
              <a:defRPr sz="1600" b="1">
                <a:solidFill>
                  <a:srgbClr val="11203A"/>
                </a:solidFill>
              </a:defRPr>
            </a:pPr>
            <a:r>
              <a:t>•  Recommended next steps:</a:t>
            </a:r>
          </a:p>
          <a:p>
            <a:pPr lvl="1">
              <a:spcAft>
                <a:spcPts val="600"/>
              </a:spcAft>
              <a:defRPr sz="1400" b="0">
                <a:solidFill>
                  <a:srgbClr val="282D37"/>
                </a:solidFill>
              </a:defRPr>
            </a:pPr>
            <a:r>
              <a:t>–  Decide target rank per role tier (commodity &lt;=16 to pass the filter).</a:t>
            </a:r>
          </a:p>
          <a:p>
            <a:pPr lvl="1">
              <a:spcAft>
                <a:spcPts val="600"/>
              </a:spcAft>
              <a:defRPr sz="1400" b="0">
                <a:solidFill>
                  <a:srgbClr val="282D37"/>
                </a:solidFill>
              </a:defRPr>
            </a:pPr>
            <a:r>
              <a:t>–  Escalate stale competitor rates to 2026 before ranking.</a:t>
            </a:r>
          </a:p>
          <a:p>
            <a:pPr lvl="1">
              <a:spcAft>
                <a:spcPts val="600"/>
              </a:spcAft>
              <a:defRPr sz="1400" b="0">
                <a:solidFill>
                  <a:srgbClr val="282D37"/>
                </a:solidFill>
              </a:defRPr>
            </a:pPr>
            <a:r>
              <a:t>–  Plug in audited cost build; model multi-year margin.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