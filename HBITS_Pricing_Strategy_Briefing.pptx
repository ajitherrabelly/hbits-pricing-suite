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011680"/>
            <a:ext cx="10515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HBITS Pricing Strategy</a:t>
            </a:r>
          </a:p>
          <a:p>
            <a:pPr>
              <a:defRPr sz="2400">
                <a:solidFill>
                  <a:srgbClr val="9FC7E8"/>
                </a:solidFill>
              </a:defRPr>
            </a:pPr>
            <a:r>
              <a:t>Briefing for IDIQ Pricing Quality Review</a:t>
            </a:r>
          </a:p>
          <a:p>
            <a:pPr>
              <a:defRPr sz="1300">
                <a:solidFill>
                  <a:srgbClr val="C8D2E6"/>
                </a:solidFill>
              </a:defRPr>
            </a:pPr>
            <a:r>
              <a:t>Briefing for State IDIQ Pricing Quality Review  -  NYS OGS Group 73012 / Award 23158 / Solicitation 23311</a:t>
            </a:r>
          </a:p>
          <a:p>
            <a:pPr>
              <a:defRPr sz="1100">
                <a:solidFill>
                  <a:srgbClr val="96A5C3"/>
                </a:solidFill>
              </a:defRPr>
            </a:pPr>
            <a:r>
              <a:t>Bid opening 7/1/2026  -  5-year term + 2-year option  -  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109728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0">
                <a:solidFill>
                  <a:srgbClr val="282D37"/>
                </a:solidFill>
              </a:defRPr>
            </a:pPr>
            <a:r>
              <a:t>•  Centralized, non-negotiated, FIXED bill-rate IT staffing contract (HBITS).</a:t>
            </a:r>
          </a:p>
          <a:p>
            <a:pPr>
              <a:spcAft>
                <a:spcPts val="600"/>
              </a:spcAft>
              <a:defRPr sz="1600" b="0">
                <a:solidFill>
                  <a:srgbClr val="282D37"/>
                </a:solidFill>
              </a:defRPr>
            </a:pPr>
            <a:r>
              <a:t>•  NTE bill rates: 31 titles x 4 skills x 3 regions, firm for each placement's life.</a:t>
            </a:r>
          </a:p>
          <a:p>
            <a:pPr>
              <a:spcAft>
                <a:spcPts val="600"/>
              </a:spcAft>
              <a:defRPr sz="1600" b="0">
                <a:solidFill>
                  <a:srgbClr val="282D37"/>
                </a:solidFill>
              </a:defRPr>
            </a:pPr>
            <a:r>
              <a:t>•  Version 1 (Baseline): internal cost/CPI estimate - lands in the expensive third.</a:t>
            </a:r>
          </a:p>
          <a:p>
            <a:pPr>
              <a:spcAft>
                <a:spcPts val="600"/>
              </a:spcAft>
              <a:defRPr sz="1600" b="0">
                <a:solidFill>
                  <a:srgbClr val="282D37"/>
                </a:solidFill>
              </a:defRPr>
            </a:pPr>
            <a:r>
              <a:t>•  Version 1.1 (Rank Positioning): current formula - prices each role to rank #19 of 33 (mid-field).</a:t>
            </a:r>
          </a:p>
          <a:p>
            <a:pPr>
              <a:spcAft>
                <a:spcPts val="600"/>
              </a:spcAft>
              <a:defRPr sz="1600" b="1">
                <a:solidFill>
                  <a:srgbClr val="1F5A8A"/>
                </a:solidFill>
              </a:defRPr>
            </a:pPr>
            <a:r>
              <a:t>•  This deck is built to be challenged - see the Quality-Test Checklist.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Procurement Context - Three Regions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188720"/>
          <a:ext cx="1106424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8080"/>
                <a:gridCol w="3688080"/>
                <a:gridCol w="3688080"/>
              </a:tblGrid>
              <a:tr h="57150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Region</a:t>
                      </a:r>
                    </a:p>
                  </a:txBody>
                  <a:tcPr>
                    <a:solidFill>
                      <a:srgbClr val="1120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Coverage</a:t>
                      </a:r>
                    </a:p>
                  </a:txBody>
                  <a:tcPr>
                    <a:solidFill>
                      <a:srgbClr val="1120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Character</a:t>
                      </a:r>
                    </a:p>
                  </a:txBody>
                  <a:tcPr>
                    <a:solidFill>
                      <a:srgbClr val="11203A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82828"/>
                          </a:solidFill>
                        </a:defRPr>
                      </a:pPr>
                      <a:r>
                        <a:t>R1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82828"/>
                          </a:solidFill>
                        </a:defRPr>
                      </a:pPr>
                      <a:r>
                        <a:t>NY counties outside R2/R3 (Albany)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82828"/>
                          </a:solidFill>
                        </a:defRPr>
                      </a:pPr>
                      <a:r>
                        <a:t>Statewide baseline; most work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82828"/>
                          </a:solidFill>
                        </a:defRPr>
                      </a:pPr>
                      <a:r>
                        <a:t>R2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82828"/>
                          </a:solidFill>
                        </a:defRPr>
                      </a:pPr>
                      <a:r>
                        <a:t>Dutchess, Orange, Putnam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82828"/>
                          </a:solidFill>
                        </a:defRPr>
                      </a:pPr>
                      <a:r>
                        <a:t>Mid-Hudson, mid-market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82828"/>
                          </a:solidFill>
                        </a:defRPr>
                      </a:pPr>
                      <a:r>
                        <a:t>R3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82828"/>
                          </a:solidFill>
                        </a:defRPr>
                      </a:pPr>
                      <a:r>
                        <a:t>NYC metro + 5 boroughs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82828"/>
                          </a:solidFill>
                        </a:defRPr>
                      </a:pPr>
                      <a:r>
                        <a:t>Highest labor cost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5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109728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The MSP Price Filter - the critical mechanic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282D37"/>
                </a:solidFill>
              </a:defRPr>
            </a:pPr>
            <a:r>
              <a:t>•  Applied BEFORE any technical evaluation, on price alone:</a:t>
            </a:r>
          </a:p>
          <a:p>
            <a:pPr>
              <a:spcAft>
                <a:spcPts val="600"/>
              </a:spcAft>
              <a:defRPr sz="1600" b="0">
                <a:solidFill>
                  <a:srgbClr val="282D37"/>
                </a:solidFill>
              </a:defRPr>
            </a:pPr>
            <a:r>
              <a:t>•  10-40 candidates: only the lowest 50% of bill rates forwarded (+1% buffer).</a:t>
            </a:r>
          </a:p>
          <a:p>
            <a:pPr>
              <a:spcAft>
                <a:spcPts val="600"/>
              </a:spcAft>
              <a:defRPr sz="1600" b="0">
                <a:solidFill>
                  <a:srgbClr val="282D37"/>
                </a:solidFill>
              </a:defRPr>
            </a:pPr>
            <a:r>
              <a:t>•  6-10 candidates: only the 5 lowest forwarded.</a:t>
            </a:r>
          </a:p>
          <a:p>
            <a:pPr>
              <a:spcAft>
                <a:spcPts val="600"/>
              </a:spcAft>
              <a:defRPr sz="1600" b="0">
                <a:solidFill>
                  <a:srgbClr val="282D37"/>
                </a:solidFill>
              </a:defRPr>
            </a:pPr>
            <a:r>
              <a:t>•  5 or fewer: filter bypassed - all forwarded.</a:t>
            </a:r>
          </a:p>
          <a:p>
            <a:pPr>
              <a:spcAft>
                <a:spcPts val="600"/>
              </a:spcAft>
              <a:defRPr sz="1600" b="1">
                <a:solidFill>
                  <a:srgbClr val="C4413A"/>
                </a:solidFill>
              </a:defRPr>
            </a:pPr>
            <a:r>
              <a:t>•  Implication: a rank #19 of 33 rate sits in the UPPER half - filtered out on high-volume roles.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5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109728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The Strategic Story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0">
                <a:solidFill>
                  <a:srgbClr val="282D37"/>
                </a:solidFill>
              </a:defRPr>
            </a:pPr>
            <a:r>
              <a:t>•  Bid too high (big markup): protect margin, but get filtered out of high-volume orders.</a:t>
            </a:r>
          </a:p>
          <a:p>
            <a:pPr>
              <a:spcAft>
                <a:spcPts val="600"/>
              </a:spcAft>
              <a:defRPr sz="1600" b="0">
                <a:solidFill>
                  <a:srgbClr val="282D37"/>
                </a:solidFill>
              </a:defRPr>
            </a:pPr>
            <a:r>
              <a:t>•  Bid too low (small markup): pass the filter &amp; win volume, but compress margin.</a:t>
            </a:r>
          </a:p>
          <a:p>
            <a:pPr>
              <a:spcAft>
                <a:spcPts val="600"/>
              </a:spcAft>
              <a:defRPr sz="1600" b="0">
                <a:solidFill>
                  <a:srgbClr val="282D37"/>
                </a:solidFill>
              </a:defRPr>
            </a:pPr>
            <a:r>
              <a:t>•  Fixed bill rate =&gt; low-markup vendors can pay a HIGHER wage for the same bill rate.</a:t>
            </a:r>
          </a:p>
          <a:p>
            <a:pPr lvl="1">
              <a:spcAft>
                <a:spcPts val="600"/>
              </a:spcAft>
              <a:defRPr sz="1400" b="0">
                <a:solidFill>
                  <a:srgbClr val="282D37"/>
                </a:solidFill>
              </a:defRPr>
            </a:pPr>
            <a:r>
              <a:t>–  e.g. BA Junior bill $40.33: 11% markup pays ~$36.33 vs 47% markup pays ~$27.43.</a:t>
            </a:r>
          </a:p>
          <a:p>
            <a:pPr>
              <a:spcAft>
                <a:spcPts val="600"/>
              </a:spcAft>
              <a:defRPr sz="1600" b="1">
                <a:solidFill>
                  <a:srgbClr val="167045"/>
                </a:solidFill>
              </a:defRPr>
            </a:pPr>
            <a:r>
              <a:t>•  Better wages -&gt; better talent -&gt; higher agency satisfaction scores.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5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109728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Core Formula &amp; CPI Escalation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11203A"/>
                </a:solidFill>
              </a:defRPr>
            </a:pPr>
            <a:r>
              <a:t>•  HBR_NTE = HWR x (1 + Markup/100)</a:t>
            </a:r>
          </a:p>
          <a:p>
            <a:pPr>
              <a:spcAft>
                <a:spcPts val="600"/>
              </a:spcAft>
              <a:defRPr sz="1600" b="0">
                <a:solidFill>
                  <a:srgbClr val="282D37"/>
                </a:solidFill>
              </a:defRPr>
            </a:pPr>
            <a:r>
              <a:t>•  Markup must cover payroll, insurance, overhead &amp; G&amp;A, OGS fee, and net profit.</a:t>
            </a:r>
          </a:p>
          <a:p>
            <a:pPr>
              <a:spcAft>
                <a:spcPts val="600"/>
              </a:spcAft>
              <a:defRPr sz="1600" b="0">
                <a:solidFill>
                  <a:srgbClr val="282D37"/>
                </a:solidFill>
              </a:defRPr>
            </a:pPr>
            <a:r>
              <a:t>•  CPI escalation (Sec 6.5): Adj% = (CPI_t - CPI_t-12) / CPI_t-12 x 100</a:t>
            </a:r>
          </a:p>
          <a:p>
            <a:pPr lvl="1">
              <a:spcAft>
                <a:spcPts val="600"/>
              </a:spcAft>
              <a:defRPr sz="1400" b="0">
                <a:solidFill>
                  <a:srgbClr val="282D37"/>
                </a:solidFill>
              </a:defRPr>
            </a:pPr>
            <a:r>
              <a:t>–  Bid-year multiplier (Apr2026/Apr2025): 1.0381 (+3.81%).</a:t>
            </a:r>
          </a:p>
          <a:p>
            <a:pPr lvl="1">
              <a:spcAft>
                <a:spcPts val="600"/>
              </a:spcAft>
              <a:defRPr sz="1400" b="0">
                <a:solidFill>
                  <a:srgbClr val="282D37"/>
                </a:solidFill>
              </a:defRPr>
            </a:pPr>
            <a:r>
              <a:t>–  2026-&gt;2029 projection: 1.0716 (+7.16%).</a:t>
            </a:r>
          </a:p>
          <a:p>
            <a:pPr>
              <a:spcAft>
                <a:spcPts val="600"/>
              </a:spcAft>
              <a:defRPr sz="1600" b="1">
                <a:solidFill>
                  <a:srgbClr val="B3771A"/>
                </a:solidFill>
              </a:defRPr>
            </a:pPr>
            <a:r>
              <a:t>•  NOT automatic - must be filed with BLS sheets in a 90-day window or forfeited.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5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109728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Version 1 - Baseline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0">
                <a:solidFill>
                  <a:srgbClr val="282D37"/>
                </a:solidFill>
              </a:defRPr>
            </a:pPr>
            <a:r>
              <a:t>•  Internal Bid Year 2026 estimate (labor benchmarks x CPI multipliers).</a:t>
            </a:r>
          </a:p>
          <a:p>
            <a:pPr>
              <a:spcAft>
                <a:spcPts val="600"/>
              </a:spcAft>
              <a:defRPr sz="1600" b="0">
                <a:solidFill>
                  <a:srgbClr val="282D37"/>
                </a:solidFill>
              </a:defRPr>
            </a:pPr>
            <a:r>
              <a:t>•  Covers 30 of 31 titles (omits Business Analyst).</a:t>
            </a:r>
          </a:p>
          <a:p>
            <a:pPr>
              <a:spcAft>
                <a:spcPts val="600"/>
              </a:spcAft>
              <a:defRPr sz="1600" b="0">
                <a:solidFill>
                  <a:srgbClr val="282D37"/>
                </a:solidFill>
              </a:defRPr>
            </a:pPr>
            <a:r>
              <a:t>•  Region 1 values applied across all regions.</a:t>
            </a:r>
          </a:p>
          <a:p>
            <a:pPr>
              <a:spcAft>
                <a:spcPts val="600"/>
              </a:spcAft>
              <a:defRPr sz="1600" b="0">
                <a:solidFill>
                  <a:srgbClr val="282D37"/>
                </a:solidFill>
              </a:defRPr>
            </a:pPr>
            <a:r>
              <a:t>•  Position: expensive third (Programmer/R1/Senior = #26 of 33).</a:t>
            </a:r>
          </a:p>
          <a:p>
            <a:pPr>
              <a:spcAft>
                <a:spcPts val="600"/>
              </a:spcAft>
              <a:defRPr sz="1600" b="1">
                <a:solidFill>
                  <a:srgbClr val="C4413A"/>
                </a:solidFill>
              </a:defRPr>
            </a:pPr>
            <a:r>
              <a:t>•  Cost-up baseline ignores where competitors sit -&gt; prices above the filter cutoff.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5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109728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Version 1.1 - Rank Positioning (current)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0">
                <a:solidFill>
                  <a:srgbClr val="282D37"/>
                </a:solidFill>
              </a:defRPr>
            </a:pPr>
            <a:r>
              <a:t>•  Market-relative: price each role to a target rank (default #19 of 33).</a:t>
            </a:r>
          </a:p>
          <a:p>
            <a:pPr>
              <a:spcAft>
                <a:spcPts val="600"/>
              </a:spcAft>
              <a:defRPr sz="1600" b="0">
                <a:solidFill>
                  <a:srgbClr val="282D37"/>
                </a:solidFill>
              </a:defRPr>
            </a:pPr>
            <a:r>
              <a:t>•  Sort competitors asc; set B* between the 18th and 19th cheapest =&gt; 18 below, 14 above.</a:t>
            </a:r>
          </a:p>
          <a:p>
            <a:pPr>
              <a:spcAft>
                <a:spcPts val="600"/>
              </a:spcAft>
              <a:defRPr sz="1600" b="0">
                <a:solidFill>
                  <a:srgbClr val="282D37"/>
                </a:solidFill>
              </a:defRPr>
            </a:pPr>
            <a:r>
              <a:t>•  356/372 roles hit exactly #19; 16/372 fall to #18 due to competitor ties.</a:t>
            </a:r>
          </a:p>
          <a:p>
            <a:pPr>
              <a:spcAft>
                <a:spcPts val="600"/>
              </a:spcAft>
              <a:defRPr sz="1600" b="0">
                <a:solidFill>
                  <a:srgbClr val="282D37"/>
                </a:solidFill>
              </a:defRPr>
            </a:pPr>
            <a:r>
              <a:t>•  Per-region; covers all 31 titles; reproducible from public data.</a:t>
            </a:r>
          </a:p>
          <a:p>
            <a:pPr>
              <a:spcAft>
                <a:spcPts val="600"/>
              </a:spcAft>
              <a:defRPr sz="1600" b="1">
                <a:solidFill>
                  <a:srgbClr val="167045"/>
                </a:solidFill>
              </a:defRPr>
            </a:pPr>
            <a:r>
              <a:t>•  Target rank is one tunable knob - re-rank live in the Bid Builder.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Data Foundation - Snapshot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188720"/>
          <a:ext cx="1106424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32120"/>
                <a:gridCol w="5532120"/>
              </a:tblGrid>
              <a:tr h="522514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1120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Value</a:t>
                      </a:r>
                    </a:p>
                  </a:txBody>
                  <a:tcPr>
                    <a:solidFill>
                      <a:srgbClr val="11203A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82828"/>
                          </a:solidFill>
                        </a:defRPr>
                      </a:pPr>
                      <a:r>
                        <a:t>Competitors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82828"/>
                          </a:solidFill>
                        </a:defRPr>
                      </a:pPr>
                      <a:r>
                        <a:t>32</a:t>
                      </a:r>
                    </a:p>
                  </a:txBody>
                  <a:tcPr/>
                </a:tc>
              </a:tr>
              <a:tr h="52251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82828"/>
                          </a:solidFill>
                        </a:defRPr>
                      </a:pPr>
                      <a:r>
                        <a:t>Bidders per role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82828"/>
                          </a:solidFill>
                        </a:defRPr>
                      </a:pPr>
                      <a:r>
                        <a:t>33</a:t>
                      </a:r>
                    </a:p>
                  </a:txBody>
                  <a:tcPr/>
                </a:tc>
              </a:tr>
              <a:tr h="52251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82828"/>
                          </a:solidFill>
                        </a:defRPr>
                      </a:pPr>
                      <a:r>
                        <a:t>Role combinations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82828"/>
                          </a:solidFill>
                        </a:defRPr>
                      </a:pPr>
                      <a:r>
                        <a:t>372</a:t>
                      </a:r>
                    </a:p>
                  </a:txBody>
                  <a:tcPr/>
                </a:tc>
              </a:tr>
              <a:tr h="52251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82828"/>
                          </a:solidFill>
                        </a:defRPr>
                      </a:pPr>
                      <a:r>
                        <a:t>Competitor markups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82828"/>
                          </a:solidFill>
                        </a:defRPr>
                      </a:pPr>
                      <a:r>
                        <a:t>11% - 110%</a:t>
                      </a:r>
                    </a:p>
                  </a:txBody>
                  <a:tcPr/>
                </a:tc>
              </a:tr>
              <a:tr h="52251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82828"/>
                          </a:solidFill>
                        </a:defRPr>
                      </a:pPr>
                      <a:r>
                        <a:t>Roles at exactly #19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82828"/>
                          </a:solidFill>
                        </a:defRPr>
                      </a:pPr>
                      <a:r>
                        <a:t>356</a:t>
                      </a:r>
                    </a:p>
                  </a:txBody>
                  <a:tcPr/>
                </a:tc>
              </a:tr>
              <a:tr h="522516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82828"/>
                          </a:solidFill>
                        </a:defRPr>
                      </a:pPr>
                      <a:r>
                        <a:t>Roles at nearest (ties)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82828"/>
                          </a:solidFill>
                        </a:defRPr>
                      </a:pPr>
                      <a:r>
                        <a:t>16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5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109728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Margin &amp; Cost Build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0">
                <a:solidFill>
                  <a:srgbClr val="282D37"/>
                </a:solidFill>
              </a:defRPr>
            </a:pPr>
            <a:r>
              <a:t>•  Net margin% = [(bill-wage) - wage x (payroll+ins+oh) - bill x OGSfee] / bill</a:t>
            </a:r>
          </a:p>
          <a:p>
            <a:pPr>
              <a:spcAft>
                <a:spcPts val="600"/>
              </a:spcAft>
              <a:defRPr sz="1600" b="0">
                <a:solidFill>
                  <a:srgbClr val="282D37"/>
                </a:solidFill>
              </a:defRPr>
            </a:pPr>
            <a:r>
              <a:t>•  Defaults: payroll 13.5%, insurance 3.5%, overhead+G&amp;A 10.5% (of wage); OGS fee 0.75%.</a:t>
            </a:r>
          </a:p>
          <a:p>
            <a:pPr lvl="1">
              <a:spcAft>
                <a:spcPts val="600"/>
              </a:spcAft>
              <a:defRPr sz="1400" b="0">
                <a:solidFill>
                  <a:srgbClr val="282D37"/>
                </a:solidFill>
              </a:defRPr>
            </a:pPr>
            <a:r>
              <a:t>–  30% markup -&gt; ~1-2% net margin.</a:t>
            </a:r>
          </a:p>
          <a:p>
            <a:pPr lvl="1">
              <a:spcAft>
                <a:spcPts val="600"/>
              </a:spcAft>
              <a:defRPr sz="1400" b="0">
                <a:solidFill>
                  <a:srgbClr val="282D37"/>
                </a:solidFill>
              </a:defRPr>
            </a:pPr>
            <a:r>
              <a:t>–  45% markup -&gt; ~11% net margin.</a:t>
            </a:r>
          </a:p>
          <a:p>
            <a:pPr>
              <a:spcAft>
                <a:spcPts val="600"/>
              </a:spcAft>
              <a:defRPr sz="1600" b="1">
                <a:solidFill>
                  <a:srgbClr val="B3771A"/>
                </a:solidFill>
              </a:defRPr>
            </a:pPr>
            <a:r>
              <a:t>•  Margin is driven by MARKUP, not the role. Rank-#19 needs ~40-45% markup for ~10% margin.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Competitive Landscape - Archetypes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188720"/>
          <a:ext cx="1106424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8080"/>
                <a:gridCol w="3688080"/>
                <a:gridCol w="3688080"/>
              </a:tblGrid>
              <a:tr h="57150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Archetype</a:t>
                      </a:r>
                    </a:p>
                  </a:txBody>
                  <a:tcPr>
                    <a:solidFill>
                      <a:srgbClr val="1120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Markup</a:t>
                      </a:r>
                    </a:p>
                  </a:txBody>
                  <a:tcPr>
                    <a:solidFill>
                      <a:srgbClr val="1120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Examples</a:t>
                      </a:r>
                    </a:p>
                  </a:txBody>
                  <a:tcPr>
                    <a:solidFill>
                      <a:srgbClr val="11203A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82828"/>
                          </a:solidFill>
                        </a:defRPr>
                      </a:pPr>
                      <a:r>
                        <a:t>High-volume / low-margin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82828"/>
                          </a:solidFill>
                        </a:defRPr>
                      </a:pPr>
                      <a:r>
                        <a:t>11-33%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82828"/>
                          </a:solidFill>
                        </a:defRPr>
                      </a:pPr>
                      <a:r>
                        <a:t>CTS, GCOM, Broad Crossing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82828"/>
                          </a:solidFill>
                        </a:defRPr>
                      </a:pPr>
                      <a:r>
                        <a:t>Mid-market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82828"/>
                          </a:solidFill>
                        </a:defRPr>
                      </a:pPr>
                      <a:r>
                        <a:t>38-52%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82828"/>
                          </a:solidFill>
                        </a:defRPr>
                      </a:pPr>
                      <a:r>
                        <a:t>Mindlance, Sligo, Experis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82828"/>
                          </a:solidFill>
                        </a:defRPr>
                      </a:pPr>
                      <a:r>
                        <a:t>Aggregator / niche-high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82828"/>
                          </a:solidFill>
                        </a:defRPr>
                      </a:pPr>
                      <a:r>
                        <a:t>65-110%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82828"/>
                          </a:solidFill>
                        </a:defRPr>
                      </a:pPr>
                      <a:r>
                        <a:t>Spruce, CMA/OST, KBI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109728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Quality-Test Checklist - Critical &amp; Material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C4413A"/>
                </a:solidFill>
              </a:defRPr>
            </a:pPr>
            <a:r>
              <a:t>•  A. Does rank #19 survive the 50% MSP filter? (upper half = filtered)</a:t>
            </a:r>
          </a:p>
          <a:p>
            <a:pPr>
              <a:spcAft>
                <a:spcPts val="600"/>
              </a:spcAft>
              <a:defRPr sz="1600" b="1">
                <a:solidFill>
                  <a:srgbClr val="C4413A"/>
                </a:solidFill>
              </a:defRPr>
            </a:pPr>
            <a:r>
              <a:t>•  B. Are competitor benchmarks current, or stale/un-escalated pre-2025 rates?</a:t>
            </a:r>
          </a:p>
          <a:p>
            <a:pPr>
              <a:spcAft>
                <a:spcPts val="600"/>
              </a:spcAft>
              <a:defRPr sz="1600" b="1">
                <a:solidFill>
                  <a:srgbClr val="B3771A"/>
                </a:solidFill>
              </a:defRPr>
            </a:pPr>
            <a:r>
              <a:t>•  C. Flat rank vs tiered strategy by role scarcity?</a:t>
            </a:r>
          </a:p>
          <a:p>
            <a:pPr>
              <a:spcAft>
                <a:spcPts val="600"/>
              </a:spcAft>
              <a:defRPr sz="1600" b="1">
                <a:solidFill>
                  <a:srgbClr val="B3771A"/>
                </a:solidFill>
              </a:defRPr>
            </a:pPr>
            <a:r>
              <a:t>•  D. Margin vs recruiting trade-off (markup sets payable wage)?</a:t>
            </a:r>
          </a:p>
          <a:p>
            <a:pPr>
              <a:spcAft>
                <a:spcPts val="600"/>
              </a:spcAft>
              <a:defRPr sz="1600" b="1">
                <a:solidFill>
                  <a:srgbClr val="B3771A"/>
                </a:solidFill>
              </a:defRPr>
            </a:pPr>
            <a:r>
              <a:t>•  E. Replace assumed wage / cost loadings with audited rates?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109728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Quality-Test Checklist - 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0">
                <a:solidFill>
                  <a:srgbClr val="282D37"/>
                </a:solidFill>
              </a:defRPr>
            </a:pPr>
            <a:r>
              <a:t>•  F. Model 10-year profitability decay (CPI escalation trails IT wage inflation).</a:t>
            </a:r>
          </a:p>
          <a:p>
            <a:pPr>
              <a:spcAft>
                <a:spcPts val="600"/>
              </a:spcAft>
              <a:defRPr sz="1600" b="0">
                <a:solidFill>
                  <a:srgbClr val="282D37"/>
                </a:solidFill>
              </a:defRPr>
            </a:pPr>
            <a:r>
              <a:t>•  G. 16/372 roles land at #18 (ties) - acceptable?</a:t>
            </a:r>
          </a:p>
          <a:p>
            <a:pPr>
              <a:spcAft>
                <a:spcPts val="600"/>
              </a:spcAft>
              <a:defRPr sz="1600" b="0">
                <a:solidFill>
                  <a:srgbClr val="282D37"/>
                </a:solidFill>
              </a:defRPr>
            </a:pPr>
            <a:r>
              <a:t>•  H. Is the 32-vendor pool complete?</a:t>
            </a:r>
          </a:p>
          <a:p>
            <a:pPr>
              <a:spcAft>
                <a:spcPts val="600"/>
              </a:spcAft>
              <a:defRPr sz="1600" b="0">
                <a:solidFill>
                  <a:srgbClr val="282D37"/>
                </a:solidFill>
              </a:defRPr>
            </a:pPr>
            <a:r>
              <a:t>•  I. Confirm regional competitor sets are distinct.</a:t>
            </a:r>
          </a:p>
          <a:p>
            <a:pPr>
              <a:spcAft>
                <a:spcPts val="600"/>
              </a:spcAft>
              <a:defRPr sz="1600" b="0">
                <a:solidFill>
                  <a:srgbClr val="282D37"/>
                </a:solidFill>
              </a:defRPr>
            </a:pPr>
            <a:r>
              <a:t>•  J. Workflow to file CPI escalation within the window each anniversary.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109728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Risks, Assumptions &amp;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0">
                <a:solidFill>
                  <a:srgbClr val="282D37"/>
                </a:solidFill>
              </a:defRPr>
            </a:pPr>
            <a:r>
              <a:t>•  Assumes competitors re-bid near current rates; MSP mechanics unchanged.</a:t>
            </a:r>
          </a:p>
          <a:p>
            <a:pPr>
              <a:spcAft>
                <a:spcPts val="600"/>
              </a:spcAft>
              <a:defRPr sz="1600" b="0">
                <a:solidFill>
                  <a:srgbClr val="282D37"/>
                </a:solidFill>
              </a:defRPr>
            </a:pPr>
            <a:r>
              <a:t>•  Wage/margin figures illustrative pending audited cost data.</a:t>
            </a:r>
          </a:p>
          <a:p>
            <a:pPr>
              <a:spcAft>
                <a:spcPts val="600"/>
              </a:spcAft>
              <a:defRPr sz="1600" b="1">
                <a:solidFill>
                  <a:srgbClr val="11203A"/>
                </a:solidFill>
              </a:defRPr>
            </a:pPr>
            <a:r>
              <a:t>•  Recommended next steps:</a:t>
            </a:r>
          </a:p>
          <a:p>
            <a:pPr lvl="1">
              <a:spcAft>
                <a:spcPts val="600"/>
              </a:spcAft>
              <a:defRPr sz="1400" b="0">
                <a:solidFill>
                  <a:srgbClr val="282D37"/>
                </a:solidFill>
              </a:defRPr>
            </a:pPr>
            <a:r>
              <a:t>–  Decide target rank per role tier (commodity &lt;=16 to pass the filter).</a:t>
            </a:r>
          </a:p>
          <a:p>
            <a:pPr lvl="1">
              <a:spcAft>
                <a:spcPts val="600"/>
              </a:spcAft>
              <a:defRPr sz="1400" b="0">
                <a:solidFill>
                  <a:srgbClr val="282D37"/>
                </a:solidFill>
              </a:defRPr>
            </a:pPr>
            <a:r>
              <a:t>–  Escalate stale competitor rates to 2026 before ranking.</a:t>
            </a:r>
          </a:p>
          <a:p>
            <a:pPr lvl="1">
              <a:spcAft>
                <a:spcPts val="600"/>
              </a:spcAft>
              <a:defRPr sz="1400" b="0">
                <a:solidFill>
                  <a:srgbClr val="282D37"/>
                </a:solidFill>
              </a:defRPr>
            </a:pPr>
            <a:r>
              <a:t>–  Plug in audited cost build; model multi-year margin.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